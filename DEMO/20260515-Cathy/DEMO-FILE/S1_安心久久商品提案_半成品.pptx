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109728"/>
          </a:xfrm>
          <a:prstGeom prst="rect">
            <a:avLst/>
          </a:prstGeom>
          <a:solidFill>
            <a:srgbClr val="CC9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6633"/>
                </a:solidFill>
                <a:latin typeface="Microsoft JhengHei"/>
              </a:rPr>
              <a:t>「安心久久」長照新商品提案</a:t>
            </a:r>
          </a:p>
          <a:p>
            <a:pPr algn="l"/>
            <a:r>
              <a:rPr sz="2000" b="0">
                <a:solidFill>
                  <a:srgbClr val="595959"/>
                </a:solidFill>
                <a:latin typeface="Microsoft JhengHei"/>
              </a:rPr>
              <a:t>商審會提報（草稿）— 待 Copilot 完善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1. 市場機會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2026 年台灣進入超高齡社會</a:t>
            </a:r>
          </a:p>
          <a:p>
            <a:r>
              <a:rPr sz="1600" b="1" i="1">
                <a:solidFill>
                  <a:srgbClr val="C00000"/>
                </a:solidFill>
                <a:latin typeface="Microsoft JhengHei"/>
              </a:rPr>
              <a:t>💡 [此處待補：請用 Copilot 補上 5 個關鍵市場數據（含資料來源）]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2. 競品條款比較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18320" cy="3657600"/>
          </a:xfrm>
          <a:prstGeom prst="roundRect">
            <a:avLst/>
          </a:prstGeom>
          <a:solidFill>
            <a:srgbClr val="C8E6D2"/>
          </a:solidFill>
          <a:ln w="254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C00000"/>
                </a:solidFill>
                <a:latin typeface="Microsoft JhengHei"/>
              </a:rPr>
              <a:t>💡 此處待補</a:t>
            </a:r>
          </a:p>
          <a:p>
            <a:pPr algn="ctr"/>
            <a:r>
              <a:rPr sz="1200" b="0">
                <a:solidFill>
                  <a:srgbClr val="404040"/>
                </a:solidFill>
                <a:latin typeface="Microsoft JhengHei"/>
              </a:rPr>
              <a:t> </a:t>
            </a:r>
          </a:p>
          <a:p>
            <a:pPr algn="ctr"/>
            <a:r>
              <a:rPr sz="1800" b="0">
                <a:solidFill>
                  <a:srgbClr val="404040"/>
                </a:solidFill>
                <a:latin typeface="Microsoft JhengHei"/>
              </a:rPr>
              <a:t>請用 Copilot：
基於 OneDrive 中的「長照保單競品分析報告」整合 5 家競品比較表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3. 三檔費率方案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404040"/>
                </a:solidFill>
                <a:latin typeface="Microsoft JhengHei"/>
              </a:rPr>
              <a:t>▸ 基本型 / 進階型 / 尊榮型</a:t>
            </a:r>
          </a:p>
          <a:p>
            <a:r>
              <a:rPr sz="1600" b="1" i="1">
                <a:solidFill>
                  <a:srgbClr val="C00000"/>
                </a:solidFill>
                <a:latin typeface="Microsoft JhengHei"/>
              </a:rPr>
              <a:t>💡 [此處待補：請用 Copilot 補上每方案的詳細參數與目標客群描述]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4. 精算敏感度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18320" cy="3657600"/>
          </a:xfrm>
          <a:prstGeom prst="roundRect">
            <a:avLst/>
          </a:prstGeom>
          <a:solidFill>
            <a:srgbClr val="C8E6D2"/>
          </a:solidFill>
          <a:ln w="25400">
            <a:solidFill>
              <a:srgbClr val="006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200" b="1">
                <a:solidFill>
                  <a:srgbClr val="C00000"/>
                </a:solidFill>
                <a:latin typeface="Microsoft JhengHei"/>
              </a:rPr>
              <a:t>💡 此處待補</a:t>
            </a:r>
          </a:p>
          <a:p>
            <a:pPr algn="ctr"/>
            <a:r>
              <a:rPr sz="1200" b="0">
                <a:solidFill>
                  <a:srgbClr val="404040"/>
                </a:solidFill>
                <a:latin typeface="Microsoft JhengHei"/>
              </a:rPr>
              <a:t> </a:t>
            </a:r>
          </a:p>
          <a:p>
            <a:pPr algn="ctr"/>
            <a:r>
              <a:rPr sz="1800" b="0">
                <a:solidFill>
                  <a:srgbClr val="404040"/>
                </a:solidFill>
                <a:latin typeface="Microsoft JhengHei"/>
              </a:rPr>
              <a:t>請用 Analyst Agent：
基於「長照精算原始資料.xlsx」產出五大敏感度因子的衝擊摘要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06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icrosoft JhengHei"/>
              </a:rPr>
              <a:t>5. 上市時程與 KPI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1">
                <a:solidFill>
                  <a:srgbClr val="C00000"/>
                </a:solidFill>
                <a:latin typeface="Microsoft JhengHei"/>
              </a:rPr>
              <a:t>💡 [此處待補：請用 Copilot 整合精算備忘錄 + 商品企劃書，產出 8 週時程甘特圖與首年 KPI 預估]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595959"/>
                </a:solidFill>
                <a:latin typeface="Microsoft JhengHei"/>
              </a:rPr>
              <a:t>國泰金控 —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